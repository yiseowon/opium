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a53aaae7834818" /><Relationship Type="http://schemas.openxmlformats.org/officeDocument/2006/relationships/extended-properties" Target="/docProps/app.xml" Id="R6edd60281e564dc0" /><Relationship Type="http://schemas.openxmlformats.org/officeDocument/2006/relationships/officeDocument" Target="/ppt/presentation.xml" Id="Ra960d29f626441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54f1b0e7434d53"/>
  </p:sldMasterIdLst>
  <p:notesMasterIdLst>
    <p:notesMasterId xmlns:r="http://schemas.openxmlformats.org/officeDocument/2006/relationships" r:id="Re806e43cc6fa4510"/>
  </p:notesMasterIdLst>
  <p:sldIdLst>
    <p:sldId xmlns:r="http://schemas.openxmlformats.org/officeDocument/2006/relationships" id="256" r:id="R17db8aee11714b2d"/>
    <p:sldId xmlns:r="http://schemas.openxmlformats.org/officeDocument/2006/relationships" id="257" r:id="Rf18706308fda478c"/>
    <p:sldId xmlns:r="http://schemas.openxmlformats.org/officeDocument/2006/relationships" id="258" r:id="R884be4774d764fc0"/>
    <p:sldId xmlns:r="http://schemas.openxmlformats.org/officeDocument/2006/relationships" id="259" r:id="Rf58a617b36a443f4"/>
    <p:sldId xmlns:r="http://schemas.openxmlformats.org/officeDocument/2006/relationships" id="260" r:id="R1dd55be73bb34bf6"/>
    <p:sldId xmlns:r="http://schemas.openxmlformats.org/officeDocument/2006/relationships" id="261" r:id="R7ee7c68297e94d31"/>
    <p:sldId xmlns:r="http://schemas.openxmlformats.org/officeDocument/2006/relationships" id="262" r:id="R2bd7316e76764b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d9a4c34cc844e6" /><Relationship Type="http://schemas.openxmlformats.org/officeDocument/2006/relationships/slideMaster" Target="/ppt/slideMasters/slideMaster1.xml" Id="R6654f1b0e7434d53" /><Relationship Type="http://schemas.openxmlformats.org/officeDocument/2006/relationships/notesMaster" Target="/ppt/notesMasters/notesMaster1.xml" Id="Re806e43cc6fa4510" /><Relationship Type="http://schemas.openxmlformats.org/officeDocument/2006/relationships/presProps" Target="/ppt/presProps.xml" Id="Reee29000aa7a44d7" /><Relationship Type="http://schemas.openxmlformats.org/officeDocument/2006/relationships/tableStyles" Target="/ppt/tableStyles.xml" Id="R189c8df99c0c4be7" /><Relationship Type="http://schemas.openxmlformats.org/officeDocument/2006/relationships/slide" Target="/ppt/slides/slide1.xml" Id="R17db8aee11714b2d" /><Relationship Type="http://schemas.openxmlformats.org/officeDocument/2006/relationships/slide" Target="/ppt/slides/slide2.xml" Id="Rf18706308fda478c" /><Relationship Type="http://schemas.openxmlformats.org/officeDocument/2006/relationships/slide" Target="/ppt/slides/slide3.xml" Id="R884be4774d764fc0" /><Relationship Type="http://schemas.openxmlformats.org/officeDocument/2006/relationships/slide" Target="/ppt/slides/slide4.xml" Id="Rf58a617b36a443f4" /><Relationship Type="http://schemas.openxmlformats.org/officeDocument/2006/relationships/slide" Target="/ppt/slides/slide5.xml" Id="R1dd55be73bb34bf6" /><Relationship Type="http://schemas.openxmlformats.org/officeDocument/2006/relationships/slide" Target="/ppt/slides/slide6.xml" Id="R7ee7c68297e94d31" /><Relationship Type="http://schemas.openxmlformats.org/officeDocument/2006/relationships/slide" Target="/ppt/slides/slide7.xml" Id="R2bd7316e76764b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08ef0340ad4d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b53a70632649fc" /><Relationship Type="http://schemas.openxmlformats.org/officeDocument/2006/relationships/notesMaster" Target="/ppt/notesMasters/notesMaster1.xml" Id="R146e455166aa4b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39cd45e19a48cc" /><Relationship Type="http://schemas.openxmlformats.org/officeDocument/2006/relationships/notesMaster" Target="/ppt/notesMasters/notesMaster1.xml" Id="R8502e96b669c45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3586a3aa7b4979" /><Relationship Type="http://schemas.openxmlformats.org/officeDocument/2006/relationships/notesMaster" Target="/ppt/notesMasters/notesMaster1.xml" Id="Rb2cd116b15174d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a2add799fb4e5b" /><Relationship Type="http://schemas.openxmlformats.org/officeDocument/2006/relationships/notesMaster" Target="/ppt/notesMasters/notesMaster1.xml" Id="R0f36f72c4d8e4f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eb290672894f7c" /><Relationship Type="http://schemas.openxmlformats.org/officeDocument/2006/relationships/notesMaster" Target="/ppt/notesMasters/notesMaster1.xml" Id="R10500611800e4f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d6fdc009e0414d" /><Relationship Type="http://schemas.openxmlformats.org/officeDocument/2006/relationships/notesMaster" Target="/ppt/notesMasters/notesMaster1.xml" Id="Rb55ed6c035704c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c3749e22264477" /><Relationship Type="http://schemas.openxmlformats.org/officeDocument/2006/relationships/notesMaster" Target="/ppt/notesMasters/notesMaster1.xml" Id="R769cc7a0780e43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68f412e2234c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438de9a5da4be2" /><Relationship Type="http://schemas.openxmlformats.org/officeDocument/2006/relationships/slideLayout" Target="/ppt/slideLayouts/slideLayout1.xml" Id="Rda92847075bc4b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92847075bc4b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b43e72e074cda" /><Relationship Type="http://schemas.openxmlformats.org/officeDocument/2006/relationships/image" Target="/ppt/media/image.png" Id="R482116bdd8ae4368" /><Relationship Type="http://schemas.openxmlformats.org/officeDocument/2006/relationships/notesSlide" Target="/ppt/notesSlides/notesSlide1.xml" Id="R34fe71b8f09b44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991cbc5164a83" /><Relationship Type="http://schemas.openxmlformats.org/officeDocument/2006/relationships/image" Target="/ppt/media/image.jpeg" Id="R99df7962850f4df0" /><Relationship Type="http://schemas.openxmlformats.org/officeDocument/2006/relationships/notesSlide" Target="/ppt/notesSlides/notesSlide2.xml" Id="R838e794e04264e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620b093d64f7e" /><Relationship Type="http://schemas.openxmlformats.org/officeDocument/2006/relationships/notesSlide" Target="/ppt/notesSlides/notesSlide3.xml" Id="Ra508e41c8bfc4b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ce674587e4422" /><Relationship Type="http://schemas.openxmlformats.org/officeDocument/2006/relationships/notesSlide" Target="/ppt/notesSlides/notesSlide4.xml" Id="Ra239fc5e5b9042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da49e431b40d9" /><Relationship Type="http://schemas.openxmlformats.org/officeDocument/2006/relationships/image" Target="/ppt/media/image2.jpeg" Id="R4b853ef5ea0c41d6" /><Relationship Type="http://schemas.openxmlformats.org/officeDocument/2006/relationships/notesSlide" Target="/ppt/notesSlides/notesSlide5.xml" Id="R95fe51b5341343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fdffea86a45c0" /><Relationship Type="http://schemas.openxmlformats.org/officeDocument/2006/relationships/notesSlide" Target="/ppt/notesSlides/notesSlide6.xml" Id="Rf41934b5dc0f46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6966c6bc84f51" /><Relationship Type="http://schemas.openxmlformats.org/officeDocument/2006/relationships/notesSlide" Target="/ppt/notesSlides/notesSlide7.xml" Id="R343fa79499f143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14EFC8-E84F-497D-8F23-2450465F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61F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2116bdd8ae4368"/>
          <a:stretch xmlns:a="http://schemas.openxmlformats.org/drawingml/2006/main"/>
        </p:blipFill>
        <p:spPr>
          <a:xfrm xmlns:a="http://schemas.openxmlformats.org/drawingml/2006/main">
            <a:off x="4953000" y="781050"/>
            <a:ext cx="2286000" cy="2286000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50145-3B95-4A57-943D-CC665283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571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F5F3FF"/>
                </a:solidFill>
              </a:defRPr>
            </a:pPr>
            <a:r>
              <a:rPr sz="4650" b="1">
                <a:solidFill>
                  <a:srgbClr val="F5F3FF"/>
                </a:solidFill>
              </a:rPr>
              <a:t>OPIUM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D85B89-67AC-4FA9-A274-D6D1BADA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243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A8FF"/>
                </a:solidFill>
              </a:defRPr>
            </a:pPr>
            <a:r>
              <a:rPr sz="1500" b="1">
                <a:solidFill>
                  <a:srgbClr val="B6A8FF"/>
                </a:solidFill>
              </a:rPr>
              <a:t>LOCAL AI, BUILT TO 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A8A91-9B60-453C-A45D-72150D50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577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AA6B8"/>
                </a:solidFill>
              </a:defRPr>
            </a:pPr>
            <a:r>
              <a:rPr sz="1725" b="0">
                <a:solidFill>
                  <a:srgbClr val="AAA6B8"/>
                </a:solidFill>
              </a:rPr>
              <a:t>Mac 안에서 모델이 생각하고, 도구를 사용하고, 작업을 끝냅니다.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A3670-DD6E-4ED9-A687-DF31CB67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619750"/>
            <a:ext cx="16192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6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AAE52-9926-48E0-81ED-B2F7D741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055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77380"/>
                </a:solidFill>
              </a:defRPr>
            </a:pPr>
            <a:r>
              <a:rPr sz="825" b="1">
                <a:solidFill>
                  <a:srgbClr val="777380"/>
                </a:solidFill>
              </a:rPr>
              <a:t>PRODUCT OVERVIEW  ·  2026</a:t>
            </a:r>
          </a:p>
        </p:txBody>
      </p:sp>
    </p:spTree>
    <p:extLst>
      <p:ext uri="{BB962C8B-B14F-4D97-AF65-F5344CB8AC3E}">
        <p14:creationId xmlns:p14="http://schemas.microsoft.com/office/powerpoint/2010/main" val="145261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B2AE4-E06B-47F4-8AB4-606EF287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A8FF"/>
                </a:solidFill>
              </a:defRPr>
            </a:pPr>
            <a:r>
              <a:rPr sz="975" b="1">
                <a:solidFill>
                  <a:srgbClr val="B6A8FF"/>
                </a:solidFill>
              </a:rPr>
              <a:t>01 ·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65E43-E02A-4990-AADE-1BE35E26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3FF"/>
                </a:solidFill>
              </a:defRPr>
            </a:pPr>
            <a:r>
              <a:rPr sz="2850" b="1">
                <a:solidFill>
                  <a:srgbClr val="F5F3FF"/>
                </a:solidFill>
              </a:rPr>
              <a:t>로컬 모델을 실제 작업자로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ADF5A-8529-4F79-AB83-BD77EEAE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B7A"/>
                </a:solidFill>
              </a:defRPr>
            </a:pPr>
            <a:r>
              <a:rPr sz="825" b="1">
                <a:solidFill>
                  <a:srgbClr val="6F6B7A"/>
                </a:solidFill>
              </a:rPr>
              <a:t>OPIUM  ·  PRODUCT PREVIEW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DD32A-48A3-4240-9A1C-99A927E3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6B7A"/>
                </a:solidFill>
              </a:defRPr>
            </a:pPr>
            <a:r>
              <a:rPr sz="900" b="1">
                <a:solidFill>
                  <a:srgbClr val="6F6B7A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4B755-DD2A-44E8-A7C6-DDF568F2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524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3FF"/>
                </a:solidFill>
              </a:defRPr>
            </a:pPr>
            <a:r>
              <a:rPr sz="3600" b="1">
                <a:solidFill>
                  <a:srgbClr val="F5F3FF"/>
                </a:solidFill>
              </a:rPr>
              <a:t>대화에서</a:t>
            </a:r>
          </a:p>
          <a:p xmlns:a="http://schemas.openxmlformats.org/drawingml/2006/main">
            <a:pPr algn="l">
              <a:defRPr sz="3600" b="1">
                <a:solidFill>
                  <a:srgbClr val="F5F3FF"/>
                </a:solidFill>
              </a:defRPr>
            </a:pPr>
            <a:r>
              <a:rPr sz="3600" b="1">
                <a:solidFill>
                  <a:srgbClr val="F5F3FF"/>
                </a:solidFill>
              </a:rPr>
              <a:t>실행까지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F600B-1798-4216-99B8-31394A11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A6B8"/>
                </a:solidFill>
              </a:defRPr>
            </a:pPr>
            <a:r>
              <a:rPr sz="1650" b="0">
                <a:solidFill>
                  <a:srgbClr val="AAA6B8"/>
                </a:solidFill>
              </a:rPr>
              <a:t>GGUF 모델이 파일을 읽고 수정하며,</a:t>
            </a:r>
          </a:p>
          <a:p xmlns:a="http://schemas.openxmlformats.org/drawingml/2006/main">
            <a:pPr algn="l">
              <a:defRPr sz="1650" b="0">
                <a:solidFill>
                  <a:srgbClr val="AAA6B8"/>
                </a:solidFill>
              </a:defRPr>
            </a:pPr>
            <a:r>
              <a:rPr sz="1650" b="0">
                <a:solidFill>
                  <a:srgbClr val="AAA6B8"/>
                </a:solidFill>
              </a:rPr>
              <a:t>명령을 검증하고, 웹과 메일 도구를</a:t>
            </a:r>
          </a:p>
          <a:p xmlns:a="http://schemas.openxmlformats.org/drawingml/2006/main">
            <a:pPr algn="l">
              <a:defRPr sz="1650" b="0">
                <a:solidFill>
                  <a:srgbClr val="AAA6B8"/>
                </a:solidFill>
              </a:defRPr>
            </a:pPr>
            <a:r>
              <a:rPr sz="1650" b="0">
                <a:solidFill>
                  <a:srgbClr val="AAA6B8"/>
                </a:solidFill>
              </a:rPr>
              <a:t>하나의 작업 흐름에서 사용합니다.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27D0FF-6B18-4BAD-A34D-519D5B73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6A8FF"/>
                </a:solidFill>
              </a:defRPr>
            </a:pPr>
            <a:r>
              <a:rPr sz="1200" b="1">
                <a:solidFill>
                  <a:srgbClr val="B6A8FF"/>
                </a:solidFill>
              </a:rPr>
              <a:t>PRIVATE BY DEFAULT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8E2E2-5208-4180-BD46-52F723EF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3FF"/>
                </a:solidFill>
              </a:defRPr>
            </a:pPr>
            <a:r>
              <a:rPr sz="1275" b="0">
                <a:solidFill>
                  <a:srgbClr val="F5F3FF"/>
                </a:solidFill>
              </a:rPr>
              <a:t>추론과 대화 기록은 기본적으로 Mac 안에 머뭅니다.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F7AB8F-C43F-44BF-ABE6-F9B7EF6D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66875"/>
            <a:ext cx="69151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B1B22"/>
          </a:solidFill>
          <a:ln xmlns:a="http://schemas.openxmlformats.org/drawingml/2006/main" w="9525">
            <a:solidFill>
              <a:srgbClr val="2A293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df7962850f4df0"/>
          <a:srcRect xmlns:a="http://schemas.openxmlformats.org/drawingml/2006/main" l="0" t="5343" r="0" b="53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00600" y="1800225"/>
            <a:ext cx="6648450" cy="3829050"/>
          </a:xfrm>
          <a:prstGeom xmlns:a="http://schemas.openxmlformats.org/drawingml/2006/main" prst="roundRect">
            <a:avLst>
              <a:gd name="adj" fmla="val 2985"/>
            </a:avLst>
          </a:prstGeom>
        </p:spPr>
      </p:pic>
    </p:spTree>
    <p:extLst>
      <p:ext uri="{BB962C8B-B14F-4D97-AF65-F5344CB8AC3E}">
        <p14:creationId xmlns:p14="http://schemas.microsoft.com/office/powerpoint/2010/main" val="17352637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363800-60D5-44ED-8AFF-7FE3B49D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A8FF"/>
                </a:solidFill>
              </a:defRPr>
            </a:pPr>
            <a:r>
              <a:rPr sz="975" b="1">
                <a:solidFill>
                  <a:srgbClr val="B6A8FF"/>
                </a:solidFill>
              </a:rPr>
              <a:t>02 ·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DFA82-57D8-48EC-8CD5-7D6C4257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3FF"/>
                </a:solidFill>
              </a:defRPr>
            </a:pPr>
            <a:r>
              <a:rPr sz="2850" b="1">
                <a:solidFill>
                  <a:srgbClr val="F5F3FF"/>
                </a:solidFill>
              </a:rPr>
              <a:t>모든 단계가 보이는 에이전트 경험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C5E64-78B0-4653-B590-138C98DA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B7A"/>
                </a:solidFill>
              </a:defRPr>
            </a:pPr>
            <a:r>
              <a:rPr sz="825" b="1">
                <a:solidFill>
                  <a:srgbClr val="6F6B7A"/>
                </a:solidFill>
              </a:rPr>
              <a:t>OPIUM  ·  PRODUCT PREVIEW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0AB12-0AB7-4746-80EE-3FC50392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6B7A"/>
                </a:solidFill>
              </a:defRPr>
            </a:pPr>
            <a:r>
              <a:rPr sz="900" b="1">
                <a:solidFill>
                  <a:srgbClr val="6F6B7A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0363B-8A31-45D2-AC0A-E9EF078D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7A61F5"/>
                </a:solidFill>
              </a:defRPr>
            </a:pPr>
            <a:r>
              <a:rPr sz="2325" b="1">
                <a:solidFill>
                  <a:srgbClr val="7A61F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89F2F-1CB6-4ABC-9F33-5A9F42E1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954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F3FF"/>
                </a:solidFill>
              </a:defRPr>
            </a:pPr>
            <a:r>
              <a:rPr sz="2025" b="1">
                <a:solidFill>
                  <a:srgbClr val="F5F3FF"/>
                </a:solidFill>
              </a:rPr>
              <a:t>요청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8F69F4-B4C3-440F-920F-B7983482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2402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A6B8"/>
                </a:solidFill>
              </a:defRPr>
            </a:pPr>
            <a:r>
              <a:rPr sz="1650" b="0">
                <a:solidFill>
                  <a:srgbClr val="AAA6B8"/>
                </a:solidFill>
              </a:rPr>
              <a:t>대화·파일 첨부·후속 프롬프트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11C3D1-D6F5-4E4B-B8AC-73387BDD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9906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0BCE0-313E-4C5F-AC90-DDB581F3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7A61F5"/>
                </a:solidFill>
              </a:defRPr>
            </a:pPr>
            <a:r>
              <a:rPr sz="2325" b="1">
                <a:solidFill>
                  <a:srgbClr val="7A61F5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300B37-50D7-4794-9928-BA60A198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62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F3FF"/>
                </a:solidFill>
              </a:defRPr>
            </a:pPr>
            <a:r>
              <a:rPr sz="2025" b="1">
                <a:solidFill>
                  <a:srgbClr val="F5F3FF"/>
                </a:solidFill>
              </a:rPr>
              <a:t>진행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2B3EC-B074-47EC-B1A2-B8901014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9082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A6B8"/>
                </a:solidFill>
              </a:defRPr>
            </a:pPr>
            <a:r>
              <a:rPr sz="1650" b="0">
                <a:solidFill>
                  <a:srgbClr val="AAA6B8"/>
                </a:solidFill>
              </a:rPr>
              <a:t>짧은 실행 설명과 현재 도구 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4DA355-14C5-4BC6-81D7-02E561F2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9906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A0B4CB-9F94-45AA-91CA-DAD4A150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7A61F5"/>
                </a:solidFill>
              </a:defRPr>
            </a:pPr>
            <a:r>
              <a:rPr sz="2325" b="1">
                <a:solidFill>
                  <a:srgbClr val="7A61F5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50533-394F-4592-9C1F-40ACB66F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290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F3FF"/>
                </a:solidFill>
              </a:defRPr>
            </a:pPr>
            <a:r>
              <a:rPr sz="2025" b="1">
                <a:solidFill>
                  <a:srgbClr val="F5F3FF"/>
                </a:solidFill>
              </a:rPr>
              <a:t>행동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0D8DF-0E03-4309-B50E-60E2408D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5762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A6B8"/>
                </a:solidFill>
              </a:defRPr>
            </a:pPr>
            <a:r>
              <a:rPr sz="1650" b="0">
                <a:solidFill>
                  <a:srgbClr val="AAA6B8"/>
                </a:solidFill>
              </a:rPr>
              <a:t>파일·터미널·웹·메일 도구 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EDA28C-F2DD-46D7-9DC2-CCD671DE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9906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40DE2B-22DF-45EC-8454-5415EB11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7A32"/>
                </a:solidFill>
              </a:defRPr>
            </a:pPr>
            <a:r>
              <a:rPr sz="2325" b="1">
                <a:solidFill>
                  <a:srgbClr val="F47A32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E05F7D-EFD3-4D8B-93E3-D063BF31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958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F3FF"/>
                </a:solidFill>
              </a:defRPr>
            </a:pPr>
            <a:r>
              <a:rPr sz="2025" b="1">
                <a:solidFill>
                  <a:srgbClr val="F5F3FF"/>
                </a:solidFill>
              </a:rPr>
              <a:t>결과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B2A4FC-6BB3-4FB9-A319-8B01AACB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2442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A6B8"/>
                </a:solidFill>
              </a:defRPr>
            </a:pPr>
            <a:r>
              <a:rPr sz="1650" b="0">
                <a:solidFill>
                  <a:srgbClr val="AAA6B8"/>
                </a:solidFill>
              </a:rPr>
              <a:t>최종 답변, 검증, 파일별 + / - 변경량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908536-F14D-4516-B906-66FD337C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864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6A8FF"/>
                </a:solidFill>
              </a:defRPr>
            </a:pPr>
            <a:r>
              <a:rPr sz="1200" b="1">
                <a:solidFill>
                  <a:srgbClr val="B6A8FF"/>
                </a:solidFill>
              </a:rPr>
              <a:t>응답 중단 · 다음 프롬프트 예약 · 턴 단위 토큰/시간</a:t>
            </a:r>
          </a:p>
        </p:txBody>
      </p:sp>
    </p:spTree>
    <p:extLst>
      <p:ext uri="{BB962C8B-B14F-4D97-AF65-F5344CB8AC3E}">
        <p14:creationId xmlns:p14="http://schemas.microsoft.com/office/powerpoint/2010/main" val="3742445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2515AB-6853-4D8A-A673-85541524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E3CB5"/>
                </a:solidFill>
              </a:defRPr>
            </a:pPr>
            <a:r>
              <a:rPr sz="975" b="1">
                <a:solidFill>
                  <a:srgbClr val="4E3CB5"/>
                </a:solidFill>
              </a:rPr>
              <a:t>03 ·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EBA39-14A9-44EF-98FE-24D951B6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191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51E"/>
                </a:solidFill>
              </a:defRPr>
            </a:pPr>
            <a:r>
              <a:rPr sz="3000" b="1">
                <a:solidFill>
                  <a:srgbClr val="17151E"/>
                </a:solidFill>
              </a:rPr>
              <a:t>권한은 단순한 팝업이 아니라</a:t>
            </a:r>
          </a:p>
          <a:p xmlns:a="http://schemas.openxmlformats.org/drawingml/2006/main">
            <a:pPr algn="l">
              <a:defRPr sz="3000" b="1">
                <a:solidFill>
                  <a:srgbClr val="17151E"/>
                </a:solidFill>
              </a:defRPr>
            </a:pPr>
            <a:r>
              <a:rPr sz="3000" b="1">
                <a:solidFill>
                  <a:srgbClr val="17151E"/>
                </a:solidFill>
              </a:rPr>
              <a:t>작업의 맥락입니다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841A4-C847-4A1E-BE7E-FE17FF15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000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0" b="1">
                <a:solidFill>
                  <a:srgbClr val="7A61F5"/>
                </a:solidFill>
              </a:defRPr>
            </a:pPr>
            <a:r>
              <a:rPr sz="11250" b="1">
                <a:solidFill>
                  <a:srgbClr val="7A61F5"/>
                </a:solidFill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7EFD9-57B8-4952-8F27-8DE1B24D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E"/>
                </a:solidFill>
              </a:defRPr>
            </a:pPr>
            <a:r>
              <a:rPr sz="1725" b="1">
                <a:solidFill>
                  <a:srgbClr val="17151E"/>
                </a:solidFill>
              </a:rPr>
              <a:t>단계 보안 활동 로그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BF8CC-A535-41D1-810B-6FE5576F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E3CB5"/>
                </a:solidFill>
              </a:defRPr>
            </a:pPr>
            <a:r>
              <a:rPr sz="1125" b="1">
                <a:solidFill>
                  <a:srgbClr val="4E3CB5"/>
                </a:solidFill>
              </a:rPr>
              <a:t>LEVEL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7FB50-F455-451C-B649-F60A8ABB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241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51E"/>
                </a:solidFill>
              </a:defRPr>
            </a:pPr>
            <a:r>
              <a:rPr sz="1875" b="1">
                <a:solidFill>
                  <a:srgbClr val="17151E"/>
                </a:solidFill>
              </a:rPr>
              <a:t>작업 폴더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5D2D3-6B6A-42BB-AADB-3B1D322E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24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271"/>
                </a:solidFill>
              </a:defRPr>
            </a:pPr>
            <a:r>
              <a:rPr sz="1350" b="0">
                <a:solidFill>
                  <a:srgbClr val="676271"/>
                </a:solidFill>
              </a:rPr>
              <a:t>일반적인 파일 읽기와 변경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14D19-72E2-462B-B247-681D7F38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29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E3CB5"/>
                </a:solidFill>
              </a:defRPr>
            </a:pPr>
            <a:r>
              <a:rPr sz="1125" b="1">
                <a:solidFill>
                  <a:srgbClr val="4E3CB5"/>
                </a:solidFill>
              </a:rPr>
              <a:t>LEVEL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D08B48-65E0-4416-A1B1-28AC2150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909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51E"/>
                </a:solidFill>
              </a:defRPr>
            </a:pPr>
            <a:r>
              <a:rPr sz="1875" b="1">
                <a:solidFill>
                  <a:srgbClr val="17151E"/>
                </a:solidFill>
              </a:rPr>
              <a:t>개인·웹·메일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BBD33B-3901-4FC1-8BA1-572B338F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90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271"/>
                </a:solidFill>
              </a:defRPr>
            </a:pPr>
            <a:r>
              <a:rPr sz="1350" b="0">
                <a:solidFill>
                  <a:srgbClr val="676271"/>
                </a:solidFill>
              </a:rPr>
              <a:t>외부 정보와 민감한 사용자 데이터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133BC7-5917-450B-96ED-8094B64B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95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5A22"/>
                </a:solidFill>
              </a:defRPr>
            </a:pPr>
            <a:r>
              <a:rPr sz="1125" b="1">
                <a:solidFill>
                  <a:srgbClr val="D75A22"/>
                </a:solidFill>
              </a:rPr>
              <a:t>LEVEL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BDC8AE-E337-419D-A01E-DB730695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577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51E"/>
                </a:solidFill>
              </a:defRPr>
            </a:pPr>
            <a:r>
              <a:rPr sz="1875" b="1">
                <a:solidFill>
                  <a:srgbClr val="17151E"/>
                </a:solidFill>
              </a:rPr>
              <a:t>터미널·삭제·시스템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1F6545-6E44-47C7-9DF3-505BD3A1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57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271"/>
                </a:solidFill>
              </a:defRPr>
            </a:pPr>
            <a:r>
              <a:rPr sz="1350" b="0">
                <a:solidFill>
                  <a:srgbClr val="676271"/>
                </a:solidFill>
              </a:rPr>
              <a:t>영향이 큰 실행과 민감 경로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B44DC6-BE04-4138-945C-96F85D1E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8102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76271"/>
                </a:solidFill>
              </a:defRPr>
            </a:pPr>
            <a:r>
              <a:rPr sz="1200" b="1">
                <a:solidFill>
                  <a:srgbClr val="676271"/>
                </a:solidFill>
              </a:rPr>
              <a:t>전체 액세스도 macOS 개인정보 보호 정책을 우회하지 않습니다.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42FFEA-E7DA-4E59-9B47-1D0A13C0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A8495"/>
                </a:solidFill>
              </a:defRPr>
            </a:pPr>
            <a:r>
              <a:rPr sz="825" b="1">
                <a:solidFill>
                  <a:srgbClr val="8A8495"/>
                </a:solidFill>
              </a:rPr>
              <a:t>OPIUM  ·  PRODUCT PREVIEW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C3A87-9FF2-46A0-A442-71664365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A8495"/>
                </a:solidFill>
              </a:defRPr>
            </a:pPr>
            <a:r>
              <a:rPr sz="900" b="1">
                <a:solidFill>
                  <a:srgbClr val="8A849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00806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79A2CF-746E-4F6C-9F41-5B05F9DE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A8FF"/>
                </a:solidFill>
              </a:defRPr>
            </a:pPr>
            <a:r>
              <a:rPr sz="975" b="1">
                <a:solidFill>
                  <a:srgbClr val="B6A8FF"/>
                </a:solidFill>
              </a:rPr>
              <a:t>04 · EXTENSIBILITY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49380-6863-442B-A814-9E57DD23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3FF"/>
                </a:solidFill>
              </a:defRPr>
            </a:pPr>
            <a:r>
              <a:rPr sz="2850" b="1">
                <a:solidFill>
                  <a:srgbClr val="F5F3FF"/>
                </a:solidFill>
              </a:rPr>
              <a:t>Adrenaline Kit에서 MCP 생태계로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41172-9433-40E9-B1EB-56B57261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B7A"/>
                </a:solidFill>
              </a:defRPr>
            </a:pPr>
            <a:r>
              <a:rPr sz="825" b="1">
                <a:solidFill>
                  <a:srgbClr val="6F6B7A"/>
                </a:solidFill>
              </a:rPr>
              <a:t>OPIUM  ·  PRODUCT PREVIEW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98E82-2024-4A34-BB98-35FE7F22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6B7A"/>
                </a:solidFill>
              </a:defRPr>
            </a:pPr>
            <a:r>
              <a:rPr sz="900" b="1">
                <a:solidFill>
                  <a:srgbClr val="6F6B7A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09B90-48FF-4ACB-BB19-17CB8232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6191250" cy="4248150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1B1B22"/>
          </a:solidFill>
          <a:ln xmlns:a="http://schemas.openxmlformats.org/drawingml/2006/main" w="9525">
            <a:solidFill>
              <a:srgbClr val="2A2932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53ef5ea0c41d6"/>
          <a:srcRect xmlns:a="http://schemas.openxmlformats.org/drawingml/2006/main" l="0" t="10979" r="0" b="109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790700"/>
            <a:ext cx="5924550" cy="3981450"/>
          </a:xfrm>
          <a:prstGeom xmlns:a="http://schemas.openxmlformats.org/drawingml/2006/main" prst="roundRect">
            <a:avLst>
              <a:gd name="adj" fmla="val 287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A9FEF-9538-46C0-9174-C8E426E1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478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A8FF"/>
                </a:solidFill>
              </a:defRPr>
            </a:pPr>
            <a:r>
              <a:rPr sz="1125" b="1">
                <a:solidFill>
                  <a:srgbClr val="B6A8FF"/>
                </a:solidFill>
              </a:rPr>
              <a:t>기본 번들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733DE-FA0A-4658-8D3D-2C792E25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717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F3FF"/>
                </a:solidFill>
              </a:defRPr>
            </a:pPr>
            <a:r>
              <a:rPr sz="2325" b="1">
                <a:solidFill>
                  <a:srgbClr val="F5F3FF"/>
                </a:solidFill>
              </a:rPr>
              <a:t>Adrenaline Kit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F16EF6-7444-4F65-9EAE-1556EADD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622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A6B8"/>
                </a:solidFill>
              </a:defRPr>
            </a:pPr>
            <a:r>
              <a:rPr sz="1500" b="0">
                <a:solidFill>
                  <a:srgbClr val="AAA6B8"/>
                </a:solidFill>
              </a:rPr>
              <a:t>파일 · 웹 · 메일 도구를 Opium의</a:t>
            </a:r>
          </a:p>
          <a:p xmlns:a="http://schemas.openxmlformats.org/drawingml/2006/main">
            <a:pPr algn="l">
              <a:defRPr sz="1500" b="0">
                <a:solidFill>
                  <a:srgbClr val="AAA6B8"/>
                </a:solidFill>
              </a:defRPr>
            </a:pPr>
            <a:r>
              <a:rPr sz="1500" b="0">
                <a:solidFill>
                  <a:srgbClr val="AAA6B8"/>
                </a:solidFill>
              </a:rPr>
              <a:t>권한과 활동 로그 안에서 실행합니다.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56D9B7-F5C4-45CC-9BA8-5B6F77E1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671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A8FF"/>
                </a:solidFill>
              </a:defRPr>
            </a:pPr>
            <a:r>
              <a:rPr sz="1125" b="1">
                <a:solidFill>
                  <a:srgbClr val="B6A8FF"/>
                </a:solidFill>
              </a:rPr>
              <a:t>추천 MCP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DD212-9E96-4A99-A6A8-605B6535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10050"/>
            <a:ext cx="4286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3FF"/>
                </a:solidFill>
              </a:defRPr>
            </a:pPr>
            <a:r>
              <a:rPr sz="1650" b="1">
                <a:solidFill>
                  <a:srgbClr val="F5F3FF"/>
                </a:solidFill>
              </a:rPr>
              <a:t>Gmail · Drive · Notion · GitHub</a:t>
            </a:r>
          </a:p>
          <a:p xmlns:a="http://schemas.openxmlformats.org/drawingml/2006/main">
            <a:pPr algn="l">
              <a:defRPr sz="1650" b="1">
                <a:solidFill>
                  <a:srgbClr val="F5F3FF"/>
                </a:solidFill>
              </a:defRPr>
            </a:pPr>
            <a:r>
              <a:rPr sz="1650" b="1">
                <a:solidFill>
                  <a:srgbClr val="F5F3FF"/>
                </a:solidFill>
              </a:rPr>
              <a:t>Slack · Linear · Figma · PostgreSQL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731CB4-1803-491D-8257-46A2A817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292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A6B8"/>
                </a:solidFill>
              </a:defRPr>
            </a:pPr>
            <a:r>
              <a:rPr sz="1200" b="0">
                <a:solidFill>
                  <a:srgbClr val="AAA6B8"/>
                </a:solidFill>
              </a:rPr>
              <a:t>연결 전에는 지원 상태를 명확히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9638894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1C3EA6-44F4-4DC1-B109-B85DAC90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A8FF"/>
                </a:solidFill>
              </a:defRPr>
            </a:pPr>
            <a:r>
              <a:rPr sz="975" b="1">
                <a:solidFill>
                  <a:srgbClr val="B6A8FF"/>
                </a:solidFill>
              </a:rPr>
              <a:t>05 ·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3876A-0FFE-4370-88A5-B066F7F2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3FF"/>
                </a:solidFill>
              </a:defRPr>
            </a:pPr>
            <a:r>
              <a:rPr sz="2850" b="1">
                <a:solidFill>
                  <a:srgbClr val="F5F3FF"/>
                </a:solidFill>
              </a:rPr>
              <a:t>Mac을 이해하는 로컬 런타임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68F55A-91E9-4E6C-AE62-8B18F929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B7A"/>
                </a:solidFill>
              </a:defRPr>
            </a:pPr>
            <a:r>
              <a:rPr sz="825" b="1">
                <a:solidFill>
                  <a:srgbClr val="6F6B7A"/>
                </a:solidFill>
              </a:rPr>
              <a:t>OPIUM  ·  PRODUCT PREVIEW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C5C08A-D534-49FB-B344-A48D2DEE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6B7A"/>
                </a:solidFill>
              </a:defRPr>
            </a:pPr>
            <a:r>
              <a:rPr sz="900" b="1">
                <a:solidFill>
                  <a:srgbClr val="6F6B7A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C868C-8CD6-4F34-8F7B-C86B056F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7A61F5"/>
                </a:solidFill>
              </a:defRPr>
            </a:pPr>
            <a:r>
              <a:rPr sz="5550" b="1">
                <a:solidFill>
                  <a:srgbClr val="7A61F5"/>
                </a:solidFill>
              </a:rPr>
              <a:t>LOCAL</a:t>
            </a:r>
          </a:p>
          <a:p xmlns:a="http://schemas.openxmlformats.org/drawingml/2006/main">
            <a:pPr algn="l">
              <a:defRPr sz="5550" b="1">
                <a:solidFill>
                  <a:srgbClr val="7A61F5"/>
                </a:solidFill>
              </a:defRPr>
            </a:pPr>
            <a:r>
              <a:rPr sz="5550" b="1">
                <a:solidFill>
                  <a:srgbClr val="7A61F5"/>
                </a:solidFill>
              </a:rPr>
              <a:t>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91F7B9-630B-4B55-9D05-76630039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F3FF"/>
                </a:solidFill>
              </a:defRPr>
            </a:pPr>
            <a:r>
              <a:rPr sz="2025" b="1">
                <a:solidFill>
                  <a:srgbClr val="F5F3FF"/>
                </a:solidFill>
              </a:rPr>
              <a:t>모델은 선택할 수 있고,</a:t>
            </a:r>
          </a:p>
          <a:p xmlns:a="http://schemas.openxmlformats.org/drawingml/2006/main">
            <a:pPr algn="l">
              <a:defRPr sz="2025" b="1">
                <a:solidFill>
                  <a:srgbClr val="F5F3FF"/>
                </a:solidFill>
              </a:defRPr>
            </a:pPr>
            <a:r>
              <a:rPr sz="2025" b="1">
                <a:solidFill>
                  <a:srgbClr val="F5F3FF"/>
                </a:solidFill>
              </a:rPr>
              <a:t>리소스는 숨기지 않습니다.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41C2A-104A-4A6B-AD82-20C48256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A8FF"/>
                </a:solidFill>
              </a:defRPr>
            </a:pPr>
            <a:r>
              <a:rPr sz="1050" b="1">
                <a:solidFill>
                  <a:srgbClr val="B6A8FF"/>
                </a:solidFill>
              </a:rPr>
              <a:t>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AFD90-1886-4437-BEFE-D3B3004A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14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3FF"/>
                </a:solidFill>
              </a:defRPr>
            </a:pPr>
            <a:r>
              <a:rPr sz="1650" b="1">
                <a:solidFill>
                  <a:srgbClr val="F5F3FF"/>
                </a:solidFill>
              </a:rPr>
              <a:t>GGUF 자동 검색 · 전환 · 로드/언로드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867B68-948C-469F-A6EB-F4BCEC2A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90800"/>
            <a:ext cx="5715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FA461-9E2B-4ABB-AA56-69629EFB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813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A8FF"/>
                </a:solidFill>
              </a:defRPr>
            </a:pPr>
            <a:r>
              <a:rPr sz="1050" b="1">
                <a:solidFill>
                  <a:srgbClr val="B6A8FF"/>
                </a:solidFill>
              </a:rPr>
              <a:t>INFERENCE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2B8B03-A2A8-4BA6-BC74-AF6CF10B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861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3FF"/>
                </a:solidFill>
              </a:defRPr>
            </a:pPr>
            <a:r>
              <a:rPr sz="1650" b="1">
                <a:solidFill>
                  <a:srgbClr val="F5F3FF"/>
                </a:solidFill>
              </a:rPr>
              <a:t>llama.cpp 스트리밍 · 6단계 추론 강도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D5D039-7ED1-4D7E-84BF-4A764041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62350"/>
            <a:ext cx="5715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7D68FC-EFBD-49B3-9272-4782F75D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52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A8FF"/>
                </a:solidFill>
              </a:defRPr>
            </a:pPr>
            <a:r>
              <a:rPr sz="1050" b="1">
                <a:solidFill>
                  <a:srgbClr val="B6A8FF"/>
                </a:solidFill>
              </a:rPr>
              <a:t>RESOURCE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B22B37-9F30-40CE-A469-7E10066D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576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3FF"/>
                </a:solidFill>
              </a:defRPr>
            </a:pPr>
            <a:r>
              <a:rPr sz="1650" b="1">
                <a:solidFill>
                  <a:srgbClr val="F5F3FF"/>
                </a:solidFill>
              </a:rPr>
              <a:t>RAM · CPU · GPU · 열 상태 · 컨텍스트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8BB892-9A4B-4D6A-AF0E-94DD8B9E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33900"/>
            <a:ext cx="5715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0FE869-FABC-41FB-8D5E-F05A336C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24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A8FF"/>
                </a:solidFill>
              </a:defRPr>
            </a:pPr>
            <a:r>
              <a:rPr sz="1050" b="1">
                <a:solidFill>
                  <a:srgbClr val="B6A8FF"/>
                </a:solidFill>
              </a:rPr>
              <a:t>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13BC78-8E44-4567-A450-67ED8A02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292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3FF"/>
                </a:solidFill>
              </a:defRPr>
            </a:pPr>
            <a:r>
              <a:rPr sz="1650" b="1">
                <a:solidFill>
                  <a:srgbClr val="F5F3FF"/>
                </a:solidFill>
              </a:rPr>
              <a:t>작업별 폴더 · 대화 기록 · 변경 통계</a:t>
            </a:r>
          </a:p>
        </p:txBody>
      </p:sp>
    </p:spTree>
    <p:extLst>
      <p:ext uri="{BB962C8B-B14F-4D97-AF65-F5344CB8AC3E}">
        <p14:creationId xmlns:p14="http://schemas.microsoft.com/office/powerpoint/2010/main" val="4245136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7A61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EB46EB-8427-40E1-A6AA-146BF348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LOCAL AI SHOULD FEEL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LIKE A REAL MAC APP.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E026E-7C03-4B5E-814A-B132FEFE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9E4FF"/>
                </a:solidFill>
              </a:defRPr>
            </a:pPr>
            <a:r>
              <a:rPr sz="1875" b="0">
                <a:solidFill>
                  <a:srgbClr val="E9E4FF"/>
                </a:solidFill>
              </a:rPr>
              <a:t>Opium은 로컬 모델의 성능, 실행 과정, 권한과 결과를</a:t>
            </a:r>
          </a:p>
          <a:p xmlns:a="http://schemas.openxmlformats.org/drawingml/2006/main">
            <a:pPr algn="l">
              <a:defRPr sz="1875" b="0">
                <a:solidFill>
                  <a:srgbClr val="E9E4FF"/>
                </a:solidFill>
              </a:defRPr>
            </a:pPr>
            <a:r>
              <a:rPr sz="1875" b="0">
                <a:solidFill>
                  <a:srgbClr val="E9E4FF"/>
                </a:solidFill>
              </a:rPr>
              <a:t>하나의 정교한 제품 경험으로 연결합니다.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5E70B-2E60-4732-857A-B2917231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CEFF"/>
                </a:solidFill>
              </a:defRPr>
            </a:pPr>
            <a:r>
              <a:rPr sz="1125" b="1">
                <a:solidFill>
                  <a:srgbClr val="D7CEFF"/>
                </a:solidFill>
              </a:rPr>
              <a:t>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A2C52-F18B-4CDB-AB42-9E5915B6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86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Qwen3.8 · 파일/웹/메일 에이전트 · 실시간 활동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3A3FC-09FC-4A95-BE1E-B2C5F88C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CEFF"/>
                </a:solidFill>
              </a:defRPr>
            </a:pPr>
            <a:r>
              <a:rPr sz="1125" b="1">
                <a:solidFill>
                  <a:srgbClr val="D7CEFF"/>
                </a:solidFill>
              </a:rPr>
              <a:t>NEXT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74072D-A41D-4FC4-8676-8C37D789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148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안전한 외부 MCP 런타임 · 연결 설정 · 패키징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517AC-0266-4CD2-BDB3-DCEA33A4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CEFF"/>
                </a:solidFill>
              </a:defRPr>
            </a:pPr>
            <a:r>
              <a:rPr sz="1125" b="1">
                <a:solidFill>
                  <a:srgbClr val="D7CEFF"/>
                </a:solidFill>
              </a:rPr>
              <a:t>GOAL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8E22D-9CE4-487B-820A-185B9A69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435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누구나 신뢰하고 사용할 수 있는 Mac용 로컬 에이전트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989B46-0661-4420-B906-381A349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9050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AA7D9B-EFD7-4A7A-89AB-C31AF9C6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github.com/yiseowon/Opium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0062F-6D05-4404-A3A7-5A4D0A93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191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5DFFF"/>
                </a:solidFill>
              </a:defRPr>
            </a:pPr>
            <a:r>
              <a:rPr sz="1050" b="1">
                <a:solidFill>
                  <a:srgbClr val="E5DFFF"/>
                </a:solidFill>
              </a:rPr>
              <a:t>#7A61F5</a:t>
            </a:r>
          </a:p>
        </p:txBody>
      </p:sp>
    </p:spTree>
    <p:extLst>
      <p:ext uri="{BB962C8B-B14F-4D97-AF65-F5344CB8AC3E}">
        <p14:creationId xmlns:p14="http://schemas.microsoft.com/office/powerpoint/2010/main" val="15420687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2026-08-14T22:03:35.5200000Z</dcterms:created>
  <dcterms:modified xsi:type="dcterms:W3CDTF">2026-08-14T22:03:35.5200000Z</dcterms:modified>
</coreProperties>
</file>